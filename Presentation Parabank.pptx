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9B-495A-B3C2-33A25B9FB372}"/>
              </c:ext>
            </c:extLst>
          </c:dPt>
          <c:dLbls>
            <c:dLbl>
              <c:idx val="0"/>
              <c:layout>
                <c:manualLayout>
                  <c:x val="2.7027027027027029E-2"/>
                  <c:y val="-0.204665959703075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81081081081081"/>
                      <c:h val="0.258483563096500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E9B-495A-B3C2-33A25B9FB37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Passed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9B-495A-B3C2-33A25B9FB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E8F7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57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I'll walk you through the ParaBank End-to-End Automation Framework built with Selenium, Java, TestNG, and Maven.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covers 10 main topics from project overview through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ParaBank is our automation target. We applied POM and built a reusable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testing creates bottlenecks in four areas — time, repetition, errors, and regression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drive this project: less manual effort, more coverage, reusability, speed, and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stack: Java, Selenium WebDriver, TestNG, Maven, Eclipse IDE, and ChromeDriver.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Selenium is the industry standard — free, multi-browser, Java-compatible, and integrates with TestNG.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flows from TestNG at the top, through test cases, page classes, utilities, WebDriver, down to Chrome.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Maven standardizes the project layout. pom.xml and testng.xml are the heart of the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packages: base, pages, utilities, testcases, and Screenshots folder for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BaseTest manages browser lifecycle. Every test class extends BaseTest to inherit setup and teardown.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ConfigReader loads URL, username, and password from config.properties — no hardcoding, easy environment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 separates page locators from test logic. One class per screen makes code reusable and easy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LoginPage encapsulates all login UI interactions. Tests call login() in one line without knowing locator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RegisterPage fills the form step by step, generates a unique username using timestamps, and stores it in TestData.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TransferFundsPage navigates to transfer section, enters amount, submits, and asserts the success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BillPayPage fills in payee details, enters payment amount, submits, and verifies success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utilities: TestData shares state, ScreenshotUtil captures evidence, ConfigReader manages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 classes: RegisterTest, TransferFundsTest, BillPayTest, DemoTest — covering the full banking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testng.xml controls order. RegisterTest runs first; later tests share the username via TestData.java.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testng.xml is the master control file defining suite name, test name, and class execution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ScreenshotUtil captures PNG evidence for each test — saved to the Screenshots folder with timestamped filenames.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Eclipse console logs every test step. 'BUILD SUCCESS' at the end confirms all 4 tests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tests passed — 100% pass rate. Full suite ran in ~38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full framework built, POM applied, 100% pass rate, screenshots captured, and complete banking flow automated.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5735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49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020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157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296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4970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902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40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42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9715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9061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851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98385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702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727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599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63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0033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ParaBank</a:t>
            </a: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33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Automation Framework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39112" y="210312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039112" y="2103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58184" y="210312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58184" y="2103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77256" y="2103120"/>
            <a:ext cx="1572768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77256" y="2103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5029200" cy="0"/>
          </a:xfrm>
          <a:prstGeom prst="line">
            <a:avLst/>
          </a:prstGeom>
          <a:noFill/>
          <a:ln w="19050">
            <a:solidFill>
              <a:srgbClr val="6DC4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2004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Nagulagama</a:t>
            </a: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Karthik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218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SDET – Automation Project</a:t>
            </a:r>
            <a:endParaRPr lang="en-US" sz="1300" dirty="0"/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C55C814D-6FF5-CB94-E420-70F2E2255C4E}"/>
              </a:ext>
            </a:extLst>
          </p:cNvPr>
          <p:cNvSpPr/>
          <p:nvPr/>
        </p:nvSpPr>
        <p:spPr>
          <a:xfrm>
            <a:off x="0" y="0"/>
            <a:ext cx="902970" cy="721358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2845" y="91440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D0F0E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2845" y="146304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B8E8D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845" y="201168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D0F0E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Technology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2845" y="256032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B8E8D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320040" y="256032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Framework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2845" y="310896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D0F0E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320040" y="310896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Page Object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7685" y="91440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CCE8F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Utilities &amp; Config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7685" y="146304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B0D8F0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Test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7685" y="201168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CCE8F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Execution 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7685" y="256032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B0D8F0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 dirty="0"/>
          </a:p>
        </p:txBody>
      </p:sp>
      <p:sp>
        <p:nvSpPr>
          <p:cNvPr id="23" name="Text 21"/>
          <p:cNvSpPr/>
          <p:nvPr/>
        </p:nvSpPr>
        <p:spPr>
          <a:xfrm>
            <a:off x="4754880" y="256032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7685" y="310896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CCE8F8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3108960"/>
            <a:ext cx="4069080" cy="484632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r>
              <a:rPr lang="en-US" sz="2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 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246888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is a feature-rich web-based banking application — the perfect real-world target for end-to-end automation covering login, registration, transfers, and bill payments.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19272" y="102412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19272" y="10241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🏗️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719072"/>
            <a:ext cx="246888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Page Object Model (POM) design pattern to cleanly separate UI locators from test logic. Every screen has its own dedicated Java class.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291072" y="102412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91072" y="10241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Framework ⚙️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1719072"/>
            <a:ext cx="246888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scalable, maintainable automation framework with shared utilities, base classes, centralized configuration, and screenshot capture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– Why Automate?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⏱️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472184"/>
            <a:ext cx="32461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execution for each release cycle takes days, delaying delivery and blocking fast feedback.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36592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13832" y="1124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13832" y="1472184"/>
            <a:ext cx="32461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repeatedly run identical regression scenarios, causing fatigue and reducing focus on exploratory testing.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84048" y="3063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8404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090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438144"/>
            <a:ext cx="32461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is prone to missed steps, inconsistent data entry, and oversight — especially under deadline pressure.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36592" y="292608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42E45"/>
          </a:solidFill>
          <a:ln w="12700">
            <a:solidFill>
              <a:srgbClr val="04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📉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13832" y="3090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Regression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13832" y="3438144"/>
            <a:ext cx="32461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app grows, full regression coverage becomes impossible to maintain manually within sprint timelines.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EAD4751-D934-CB46-2E6A-EC254DDB5150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framework is designed to achieve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8321040" cy="0"/>
          </a:xfrm>
          <a:prstGeom prst="line">
            <a:avLst/>
          </a:prstGeom>
          <a:noFill/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regression scenarios, freeing testers for exploratory and edge-case testing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842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1892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Test Coverage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77240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critical banking flows — registration, login, fund transfer, and bill payment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340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6426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Framework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29900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POM-based code means changes to one page class do not ripple across tests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8386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3924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Faster Execution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77240" y="37398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test suite in ~38 seconds rather than hours of manual effort per cycle</a:t>
            </a:r>
            <a:endParaRPr lang="en-US" sz="11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3367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41422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77240" y="44897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locators and config mean UI changes require minimal code updates</a:t>
            </a:r>
            <a:endParaRPr lang="en-US" sz="115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126076A-6249-6EB4-2C33-C9D5E3D16D3F}"/>
              </a:ext>
            </a:extLst>
          </p:cNvPr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331BFD26-00CC-F38D-2B14-3097D437937E}"/>
              </a:ext>
            </a:extLst>
          </p:cNvPr>
          <p:cNvSpPr/>
          <p:nvPr/>
        </p:nvSpPr>
        <p:spPr>
          <a:xfrm>
            <a:off x="617474" y="-274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08813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0881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6362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test scripts and framework utility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10128" y="108813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10128" y="10881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6362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library that drives Chrome to interact with the ParaBank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96012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254496" y="108813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54496" y="10881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156362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framework providing annotations, sequencing, and reporting capabilities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042E45"/>
          </a:solidFill>
          <a:ln w="12700">
            <a:solidFill>
              <a:srgbClr val="04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30540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" y="352958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dependency management tool — controls all library versions via pom.xml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310128" y="305409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310128" y="30540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52958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 for writing, debugging, and running automation code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44768" y="2926080"/>
            <a:ext cx="27249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254496" y="3054096"/>
            <a:ext cx="2505456" cy="402336"/>
          </a:xfrm>
          <a:prstGeom prst="roundRect">
            <a:avLst>
              <a:gd name="adj" fmla="val 13636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54496" y="30540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81928" y="352958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implementation that bridges Selenium with the Google Chrome browser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Selenium WebDriver?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20299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38912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53619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Free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177393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 — ideal for teams of any size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Support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24140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Chrome, Firefox, Edge, Safari out of the 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28163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Integration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05409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Java with clean, well-documented APIs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4564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345643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Integration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36941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pairs with TestNG for structured test execution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40965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</a:rPr>
              <a:t>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409651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43342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Amazon, Microsoft — great career skill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9144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054035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623560" y="11887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2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23560" y="162763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world's #1</a:t>
            </a:r>
            <a:endParaRPr lang="en-US" sz="1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89320" y="2724912"/>
            <a:ext cx="2514600" cy="0"/>
          </a:xfrm>
          <a:prstGeom prst="line">
            <a:avLst/>
          </a:prstGeom>
          <a:noFill/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23560" y="28346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Google,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Amazon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60720" y="37307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Community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Rich Documentation</a:t>
            </a:r>
            <a:endParaRPr lang="en-US" sz="11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Ready</a:t>
            </a:r>
            <a:endParaRPr lang="en-US" sz="11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080260" y="822960"/>
            <a:ext cx="5074920" cy="603504"/>
          </a:xfrm>
          <a:prstGeom prst="roundRect">
            <a:avLst>
              <a:gd name="adj" fmla="val 1060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42E4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080260" y="822960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80260" y="1136782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&amp; annotations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426464"/>
            <a:ext cx="0" cy="82296"/>
          </a:xfrm>
          <a:prstGeom prst="line">
            <a:avLst/>
          </a:prstGeom>
          <a:noFill/>
          <a:ln w="25400">
            <a:solidFill>
              <a:srgbClr val="2A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453128" y="1408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80260" y="1499616"/>
            <a:ext cx="5074920" cy="603504"/>
          </a:xfrm>
          <a:prstGeom prst="roundRect">
            <a:avLst>
              <a:gd name="adj" fmla="val 10606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080260" y="1499616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80260" y="1813438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RegisterTest · TransferFundsTest · BillPayTest · DemoTest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2103120"/>
            <a:ext cx="0" cy="82296"/>
          </a:xfrm>
          <a:prstGeom prst="line">
            <a:avLst/>
          </a:prstGeom>
          <a:noFill/>
          <a:ln w="25400">
            <a:solidFill>
              <a:srgbClr val="2A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53128" y="20848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80260" y="2176272"/>
            <a:ext cx="5074920" cy="603504"/>
          </a:xfrm>
          <a:prstGeom prst="roundRect">
            <a:avLst>
              <a:gd name="adj" fmla="val 10606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080260" y="2176272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Classes (POM)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80260" y="2490094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· RegisterPage · TransferFundsPage · BillPayPage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779776"/>
            <a:ext cx="0" cy="82296"/>
          </a:xfrm>
          <a:prstGeom prst="line">
            <a:avLst/>
          </a:prstGeom>
          <a:noFill/>
          <a:ln w="25400">
            <a:solidFill>
              <a:srgbClr val="2A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453128" y="27614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80260" y="2852928"/>
            <a:ext cx="5074920" cy="603504"/>
          </a:xfrm>
          <a:prstGeom prst="roundRect">
            <a:avLst>
              <a:gd name="adj" fmla="val 10606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080260" y="2852928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80260" y="3166750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· ConfigReader · ScreenshotUtil · TestData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456432"/>
            <a:ext cx="0" cy="82296"/>
          </a:xfrm>
          <a:prstGeom prst="line">
            <a:avLst/>
          </a:prstGeom>
          <a:noFill/>
          <a:ln w="25400">
            <a:solidFill>
              <a:srgbClr val="2A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453128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80260" y="3529584"/>
            <a:ext cx="5074920" cy="603504"/>
          </a:xfrm>
          <a:prstGeom prst="roundRect">
            <a:avLst>
              <a:gd name="adj" fmla="val 10606"/>
            </a:avLst>
          </a:prstGeom>
          <a:solidFill>
            <a:srgbClr val="0BB88E"/>
          </a:solidFill>
          <a:ln w="12700">
            <a:solidFill>
              <a:srgbClr val="0BB88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080260" y="3529584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80260" y="3843406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browser control layer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4133088"/>
            <a:ext cx="0" cy="82296"/>
          </a:xfrm>
          <a:prstGeom prst="line">
            <a:avLst/>
          </a:prstGeom>
          <a:noFill/>
          <a:ln w="25400">
            <a:solidFill>
              <a:srgbClr val="2A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53128" y="4114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80260" y="4206240"/>
            <a:ext cx="5074920" cy="603504"/>
          </a:xfrm>
          <a:prstGeom prst="roundRect">
            <a:avLst>
              <a:gd name="adj" fmla="val 10606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080260" y="4206240"/>
            <a:ext cx="50749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(Chrome)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80260" y="4520062"/>
            <a:ext cx="507492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web application target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Project Structure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06440" y="914400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61888" y="1042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61888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6188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Selenium, TestNG, Maven plugin dependencies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61888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61888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suite, test classes, and execution order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1888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config.properties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61888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URL, username, password for easy switching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61888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src/main/java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61888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utility code shared across all test cases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61888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src/test/java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61888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objects and test scripts live here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341DAE6-66A1-EDCD-D17A-62C7711343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505"/>
          <a:stretch>
            <a:fillRect/>
          </a:stretch>
        </p:blipFill>
        <p:spPr>
          <a:xfrm>
            <a:off x="670256" y="880078"/>
            <a:ext cx="3717594" cy="4018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– src/test/java</a:t>
            </a:r>
            <a:endParaRPr lang="en-US" sz="21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032D26"/>
          </a:solidFill>
          <a:ln w="12700">
            <a:solidFill>
              <a:srgbClr val="032D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base/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960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542032" y="9601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BaseTest.java — browser setup (@BeforeMethod) and teardown (@AfterMethod)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17647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pages/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7440" y="1764792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42032" y="1764792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classes for each screen: LoginPage, RegisterPage, TransferFundsPage, BillPayPage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4320" y="25694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utilities/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2569464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42032" y="2569464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classes: ConfigReader, ScreenshotUtil, and TestData for shared test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74136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74320" y="33741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testcases/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3374136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42032" y="3374136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 scripts: RegisterTest, TransferFundsTest, BillPayTest, DemoTest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7880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042E45"/>
          </a:solidFill>
          <a:ln w="12700">
            <a:solidFill>
              <a:srgbClr val="04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74320" y="41788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Screenshots/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4178808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542032" y="4178808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folder where ScreenshotUtil saves PNG evidence on test pass/fail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BaseTest.java – Browser Lifecycle Management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94960" y="109079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532120" y="117308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@BeforeMethod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32120" y="151141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every test — sets up a fresh ChromeDriver instance and opens the app URL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2259746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30" name="Text 28"/>
          <p:cNvSpPr/>
          <p:nvPr/>
        </p:nvSpPr>
        <p:spPr>
          <a:xfrm>
            <a:off x="5532120" y="225207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Setup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532120" y="259040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ChromeDriver, maximises window, and navigates to URL from config.properties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41DEE16-BBB5-B5E5-F90F-30963A2E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990501"/>
            <a:ext cx="4483508" cy="3903138"/>
          </a:xfrm>
          <a:prstGeom prst="rect">
            <a:avLst/>
          </a:prstGeom>
          <a:effectLst/>
        </p:spPr>
      </p:pic>
      <p:sp>
        <p:nvSpPr>
          <p:cNvPr id="39" name="Shape 27">
            <a:extLst>
              <a:ext uri="{FF2B5EF4-FFF2-40B4-BE49-F238E27FC236}">
                <a16:creationId xmlns:a16="http://schemas.microsoft.com/office/drawing/2014/main" id="{084E5B5A-4DA2-075D-B67A-F5ABF597FF4D}"/>
              </a:ext>
            </a:extLst>
          </p:cNvPr>
          <p:cNvSpPr/>
          <p:nvPr/>
        </p:nvSpPr>
        <p:spPr>
          <a:xfrm>
            <a:off x="5394960" y="3424196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6559F3B-3F3B-8B71-5ABD-0B81754E3A4B}"/>
              </a:ext>
            </a:extLst>
          </p:cNvPr>
          <p:cNvSpPr/>
          <p:nvPr/>
        </p:nvSpPr>
        <p:spPr>
          <a:xfrm>
            <a:off x="5525770" y="366736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044FF443-A944-EB9B-122B-52A5107B85B6}"/>
              </a:ext>
            </a:extLst>
          </p:cNvPr>
          <p:cNvSpPr/>
          <p:nvPr/>
        </p:nvSpPr>
        <p:spPr>
          <a:xfrm>
            <a:off x="5507482" y="3085984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@AfterMethod</a:t>
            </a:r>
          </a:p>
          <a:p>
            <a:pPr marL="0" indent="0">
              <a:buNone/>
            </a:pPr>
            <a:endParaRPr lang="en-US" sz="1100" b="1" dirty="0">
              <a:solidFill>
                <a:srgbClr val="0033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test — closes the browser to release resources and prevent memory leaks</a:t>
            </a:r>
            <a:endParaRPr lang="en-US" sz="1100" b="1" dirty="0"/>
          </a:p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ConfigReader.java – Centralised Configuration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config.properties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901952"/>
            <a:ext cx="548640" cy="0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45152" y="17647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96012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937760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ConfigReader.java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84064" y="1444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prop = new Properties();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84064" y="1673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prop.load(new FileReader(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84064" y="19019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"config.properties"));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84064" y="2130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getURL()  → prop.get("url")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84064" y="2359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getUser() → prop.get("username")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84064" y="2587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getPass() → prop.get("password")</a:t>
            </a:r>
            <a:endParaRPr lang="en-US" sz="9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" y="3090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520440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URL or credentials in one file — all tests pick it up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99232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337560" y="309067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337560" y="3090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92424" y="3520440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URLs are never embedded in test 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99232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309360" y="309067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309360" y="3090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Switching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64224" y="3520440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dev, staging, and production by editing one file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ABC67FA-A6F2-5150-8570-ACF4B0266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53" y="1442558"/>
            <a:ext cx="3683254" cy="13793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67665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pattern that keeps tests clean and maintainable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321040" cy="0"/>
          </a:xfrm>
          <a:prstGeom prst="line">
            <a:avLst/>
          </a:prstGeom>
          <a:noFill/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3977640" cy="3657600"/>
          </a:xfrm>
          <a:prstGeom prst="roundRect">
            <a:avLst>
              <a:gd name="adj" fmla="val 175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7A25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20040" y="11887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POM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Locators scattered across all test files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Same element located in 10 different tests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UI change → update dozens of files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30098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Tests tightly coupled to implementation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Very hard to debug at 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251960" cy="3657600"/>
          </a:xfrm>
          <a:prstGeom prst="roundRect">
            <a:avLst>
              <a:gd name="adj" fmla="val 175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POM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682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page has its own dedicated class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2221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Tests call reusable methods from page classes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7614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UI change → update only one page class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300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separation of logic and page actions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Easily scales as the application grows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LoginPage.java – Page Object Class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04688" y="1005840"/>
            <a:ext cx="33649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641848" y="10881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41848" y="1426464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WebDriver from the test so it operates on the same browser session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04688" y="2176272"/>
            <a:ext cx="33649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41848" y="225856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(By)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41848" y="259689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locators stored as class fields — username/password fields and login button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04688" y="3364992"/>
            <a:ext cx="33649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641848" y="344728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Method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41848" y="378561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action method — enters user/pass and clicks login. Any test calls this in one line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9AA844B-A260-80C1-1048-924FD1DE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47" y="969264"/>
            <a:ext cx="4082352" cy="38185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RegisterPage.java – User Registration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88136"/>
            <a:ext cx="493776" cy="493776"/>
          </a:xfrm>
          <a:prstGeom prst="ellipse">
            <a:avLst/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088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" y="1581912"/>
            <a:ext cx="0" cy="219456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0120" y="1005840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7280" y="10332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Register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the 'Register' link on the home page to open the registration form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493776" cy="493776"/>
          </a:xfrm>
          <a:prstGeom prst="ellipse">
            <a:avLst/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4320" y="1892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" y="2386584"/>
            <a:ext cx="0" cy="219456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60120" y="1810512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7280" y="1837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Personal Details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1122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first name, last name, address, city, state, zip, phone, and SSN into form fields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493776" cy="493776"/>
          </a:xfrm>
          <a:prstGeom prst="ellipse">
            <a:avLst/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74320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" y="3191256"/>
            <a:ext cx="0" cy="219456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60120" y="2615184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97280" y="2642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Username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9169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System.currentTimeMillis() to a base string — ensures uniqueness on every test run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02152"/>
            <a:ext cx="493776" cy="493776"/>
          </a:xfrm>
          <a:prstGeom prst="ellipse">
            <a:avLst/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74320" y="35021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21208" y="3995928"/>
            <a:ext cx="0" cy="219456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60120" y="3419856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97280" y="3447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721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and confirms the password for the new account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306824"/>
            <a:ext cx="493776" cy="493776"/>
          </a:xfrm>
          <a:prstGeom prst="ellipse">
            <a:avLst/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74320" y="4306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0120" y="4224528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97280" y="4251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Store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'Register' then saves the generated username in TestData.java for later tests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TransferFundsPage.java – Fund Transfer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8600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registered credentials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63624" y="1463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09928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709928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09928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9928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landing page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44952" y="1463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91256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191256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91256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91256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Transfer page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1463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72584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672584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🔢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72584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72584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transfer value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07608" y="1463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53912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D0F5EC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53912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✅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53912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Transfer button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88936" y="1463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35240" y="960120"/>
            <a:ext cx="1335024" cy="146304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35240" y="11247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366"/>
                </a:solidFill>
              </a:rPr>
              <a:t>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35240" y="16002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35240" y="19293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success message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606040"/>
            <a:ext cx="8705088" cy="2194560"/>
          </a:xfrm>
          <a:prstGeom prst="roundRect">
            <a:avLst>
              <a:gd name="adj" fmla="val 3333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84048" y="27066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Code – TransferFundsPage.java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384048" y="3017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driver.findElement(By.linkText("Transfer Funds")).click();</a:t>
            </a:r>
            <a:endParaRPr lang="en-US" sz="9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4048" y="33009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driver.findElement(By.id("amount")).sendKeys("500");</a:t>
            </a:r>
            <a:endParaRPr lang="en-US" sz="9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4048" y="3584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driver.findElement(By.id("transferButton")).click();</a:t>
            </a:r>
            <a:endParaRPr lang="en-US" sz="9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4048" y="38679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msg = driver.findElement(By.tagName("h1")).getText();</a:t>
            </a:r>
            <a:endParaRPr lang="en-US" sz="9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384048" y="41513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2">
                    <a:lumMod val="9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Assert.assertEquals(msg, "Transfer Complete!");</a:t>
            </a:r>
            <a:endParaRPr lang="en-US" sz="95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BillPayPage.java – Bill Payment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39" y="1060704"/>
            <a:ext cx="1530883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20240" y="1060704"/>
            <a:ext cx="1530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Electricity 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bill recipient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960120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0" y="1033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82512" y="1060704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82512" y="1060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Hyderabad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453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Payee's street address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1947672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84048" y="2020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04825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920240" y="2048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Hyderabad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the payee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18304" y="1947672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2020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82512" y="204825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82512" y="2048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abbreviation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2935224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84048" y="3008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303580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9202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5-digit postal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18304" y="2935224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46320" y="3008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303580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382512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9876543210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number of payee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392277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84048" y="3995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#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0240" y="40233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9202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account number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18304" y="392277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846320" y="3995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82512" y="40233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D0F0E8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382512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to transfer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834640" y="4754880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283464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Click 'Send Payment' → Assert: Bill Payment Complete!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606040" cy="502920"/>
          </a:xfrm>
          <a:prstGeom prst="roundRect">
            <a:avLst>
              <a:gd name="adj" fmla="val 12727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32D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TestData.java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13167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 State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dynamically generated username as a public static variable, allowing RegisterTest to store it and subsequent tests (TransferFunds, BillPay) to retrieve it without re-registering.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041648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20040" y="4041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username;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1024128"/>
            <a:ext cx="2606040" cy="502920"/>
          </a:xfrm>
          <a:prstGeom prst="roundRect">
            <a:avLst>
              <a:gd name="adj" fmla="val 12727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918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ScreenshotUtil.java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13167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screenshot at the end of each test using Selenium's TakesScreenshot interface. Saves the PNG to the Screenshots/ folder with a timestamped filename for traceability.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4041648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91840" y="4041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captureScreenshot(driver, name)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63640" y="1024128"/>
            <a:ext cx="2606040" cy="502920"/>
          </a:xfrm>
          <a:prstGeom prst="roundRect">
            <a:avLst>
              <a:gd name="adj" fmla="val 12727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2636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ConfigReader.java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3167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1645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URL, username, and password from config.properties using Java's Properties class. Returns values via static methods callable from anywhere in the framework.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041648"/>
            <a:ext cx="2606040" cy="566928"/>
          </a:xfrm>
          <a:prstGeom prst="roundRect">
            <a:avLst>
              <a:gd name="adj" fmla="val 12903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63640" y="4041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getURL() · getUser() · getPass()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2245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069848"/>
            <a:ext cx="4041648" cy="384048"/>
          </a:xfrm>
          <a:prstGeom prst="roundRect">
            <a:avLst>
              <a:gd name="adj" fmla="val 14286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registration page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80136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form with valid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unique username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22951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registration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542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Assert: Registration Successful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36592" y="960120"/>
            <a:ext cx="42245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828032" y="1069848"/>
            <a:ext cx="4041648" cy="384048"/>
          </a:xfrm>
          <a:prstGeom prst="roundRect">
            <a:avLst>
              <a:gd name="adj" fmla="val 14286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28032" y="106984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5544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with registered user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180136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Navigate to Transfer Funds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0482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Enter $500 amount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22951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Select accounts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2542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Assert: Transfer Complete!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6032" y="2990088"/>
            <a:ext cx="42245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47472" y="3099816"/>
            <a:ext cx="4041648" cy="384048"/>
          </a:xfrm>
          <a:prstGeom prst="roundRect">
            <a:avLst>
              <a:gd name="adj" fmla="val 14286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7472" y="3099816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35844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with registered user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8912" y="383133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Navigate to Bill Pay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" y="40782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 all payee details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" y="4325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Enter payment amount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" y="4572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Assert: Bill Payment Complete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36592" y="2990088"/>
            <a:ext cx="42245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828032" y="3099816"/>
            <a:ext cx="4041648" cy="384048"/>
          </a:xfrm>
          <a:prstGeom prst="roundRect">
            <a:avLst>
              <a:gd name="adj" fmla="val 1428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4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28032" y="3099816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5844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End-to-end smoke test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383133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Validates overall flow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9472" y="40782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Uses all page objects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19472" y="4325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Confirms integration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19472" y="4572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Assert: Full flow passes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960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A0A3F67-ED2C-83A2-CAD2-F17232C570B0}"/>
              </a:ext>
            </a:extLst>
          </p:cNvPr>
          <p:cNvSpPr/>
          <p:nvPr/>
        </p:nvSpPr>
        <p:spPr>
          <a:xfrm>
            <a:off x="530352" y="105156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4720A58-F355-0336-1D37-0BD753F80F97}"/>
              </a:ext>
            </a:extLst>
          </p:cNvPr>
          <p:cNvSpPr/>
          <p:nvPr/>
        </p:nvSpPr>
        <p:spPr>
          <a:xfrm>
            <a:off x="530352" y="105156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Flow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10515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testng.xml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64208" y="10515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entry point — defines class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18488"/>
            <a:ext cx="0" cy="164592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365642" y="174650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66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62272" y="187452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D9E7A"/>
          </a:solidFill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62272" y="18745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RegisterTest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96128" y="18745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account &amp; saves username to TestData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441448"/>
            <a:ext cx="0" cy="164592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91663" y="256946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66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0352" y="269748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0352" y="26974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TransferFundsTest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64208" y="2697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reads username from TestData, transfers $500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3264408"/>
            <a:ext cx="0" cy="164592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365642" y="33924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66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34290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62272" y="352044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62272" y="35204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BillPayTest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96128" y="3520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pays bill using shared username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087368"/>
            <a:ext cx="0" cy="164592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91663" y="421538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66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30352" y="43434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09AD0"/>
          </a:solidFill>
          <a:ln w="12700">
            <a:solidFill>
              <a:srgbClr val="04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30352" y="43434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DemoTest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64208" y="4343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across all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 – Test Suite Configuration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60720" y="914400"/>
            <a:ext cx="3108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897880" y="969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tag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12435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entire test suite. verbose=1 enables console logging during execution.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1892808"/>
            <a:ext cx="3108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897880" y="1947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2221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 collection of test classes into one logical test batch.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60720" y="2871216"/>
            <a:ext cx="3108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897880" y="2926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section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978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each test class by fully-qualified name. TestNG executes them in listed order.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60720" y="3849624"/>
            <a:ext cx="3108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89788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97880" y="41788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TransferFunds → BillPay → Demo. Order matters — later tests need the registered username.</a:t>
            </a:r>
            <a:endParaRPr lang="en-US" sz="10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5DCED18-C92E-BFDA-6E29-93AE660F7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62"/>
          <a:stretch>
            <a:fillRect/>
          </a:stretch>
        </p:blipFill>
        <p:spPr>
          <a:xfrm>
            <a:off x="411480" y="914400"/>
            <a:ext cx="4955032" cy="3747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1996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054035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09360" y="1024128"/>
            <a:ext cx="2569464" cy="1920240"/>
          </a:xfrm>
          <a:prstGeom prst="roundRect">
            <a:avLst>
              <a:gd name="adj" fmla="val 3810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3CEEB4AA-8F4A-FF80-BF2B-5A294B3C5417}"/>
              </a:ext>
            </a:extLst>
          </p:cNvPr>
          <p:cNvSpPr/>
          <p:nvPr/>
        </p:nvSpPr>
        <p:spPr>
          <a:xfrm>
            <a:off x="6338695" y="2501560"/>
            <a:ext cx="2510794" cy="402336"/>
          </a:xfrm>
          <a:prstGeom prst="roundRect">
            <a:avLst>
              <a:gd name="adj" fmla="val 13636"/>
            </a:avLst>
          </a:prstGeom>
          <a:solidFill>
            <a:srgbClr val="1FAD6F"/>
          </a:solidFill>
          <a:ln w="12700">
            <a:solidFill>
              <a:srgbClr val="1FAD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– Visual Evidence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054035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569464" cy="1920240"/>
          </a:xfrm>
          <a:prstGeom prst="roundRect">
            <a:avLst>
              <a:gd name="adj" fmla="val 3810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</a:rPr>
              <a:t>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94511" y="2971809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RegisterTest_Passed.png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8530" y="2510703"/>
            <a:ext cx="2503924" cy="402336"/>
          </a:xfrm>
          <a:prstGeom prst="roundRect">
            <a:avLst>
              <a:gd name="adj" fmla="val 13636"/>
            </a:avLst>
          </a:prstGeom>
          <a:solidFill>
            <a:srgbClr val="1FAD6F"/>
          </a:solidFill>
          <a:ln w="12700">
            <a:solidFill>
              <a:srgbClr val="1FAD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9990" y="2504524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70175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3890215"/>
            <a:ext cx="2569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showing 'Registration Successful' with the generated username visible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27832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054035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337560" y="1024128"/>
            <a:ext cx="2569464" cy="1920240"/>
          </a:xfrm>
          <a:prstGeom prst="roundRect">
            <a:avLst>
              <a:gd name="adj" fmla="val 3810"/>
            </a:avLst>
          </a:prstGeom>
          <a:solidFill>
            <a:srgbClr val="032D26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337560" y="1115568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</a:rPr>
              <a:t>📸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52377" y="299518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TransferFunds_Passed.png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60251" y="2519182"/>
            <a:ext cx="2524082" cy="402336"/>
          </a:xfrm>
          <a:prstGeom prst="roundRect">
            <a:avLst>
              <a:gd name="adj" fmla="val 13636"/>
            </a:avLst>
          </a:prstGeom>
          <a:solidFill>
            <a:srgbClr val="1FAD6F"/>
          </a:solidFill>
          <a:ln w="12700">
            <a:solidFill>
              <a:srgbClr val="1FAD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337560" y="2530607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3570175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3890215"/>
            <a:ext cx="2569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page displaying 'Transfer Complete!' with amount and account details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1115568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</a:rPr>
              <a:t>📸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57647" y="295670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BillPay_Passed.png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9360" y="2507572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570175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09360" y="3890215"/>
            <a:ext cx="2569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screen showing 'Bill Payment Complete' with payee and amount confirmed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C7E017E-A656-9A14-E289-BA53A240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30" y="1074452"/>
            <a:ext cx="2503924" cy="13692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C37AE3E-6FAF-79BA-E285-5A36C7E78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331" y="1055624"/>
            <a:ext cx="2519002" cy="13881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67F34B9-03B7-3D06-B31C-9B87797C4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50" y="1074452"/>
            <a:ext cx="2523032" cy="1363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– Test Execution Log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613648" cy="3840480"/>
          </a:xfrm>
          <a:prstGeom prst="roundRect">
            <a:avLst>
              <a:gd name="adj" fmla="val 1905"/>
            </a:avLst>
          </a:prstGeom>
          <a:solidFill>
            <a:srgbClr val="0D1117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r>
              <a:rPr lang="en-IN" sz="700" dirty="0">
                <a:solidFill>
                  <a:schemeClr val="bg1"/>
                </a:solidFill>
              </a:rPr>
              <a:t>[</a:t>
            </a:r>
            <a:r>
              <a:rPr lang="en-IN" sz="700" dirty="0" err="1">
                <a:solidFill>
                  <a:schemeClr val="bg1"/>
                </a:solidFill>
              </a:rPr>
              <a:t>RemoteTestNG</a:t>
            </a:r>
            <a:r>
              <a:rPr lang="en-IN" sz="700" dirty="0">
                <a:solidFill>
                  <a:schemeClr val="bg1"/>
                </a:solidFill>
              </a:rPr>
              <a:t>] detected TestNG version 7.10.2</a:t>
            </a:r>
          </a:p>
          <a:p>
            <a:r>
              <a:rPr lang="en-IN" sz="700" dirty="0">
                <a:solidFill>
                  <a:schemeClr val="bg1"/>
                </a:solidFill>
              </a:rPr>
              <a:t>Browser Started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Registration Successful</a:t>
            </a:r>
          </a:p>
          <a:p>
            <a:r>
              <a:rPr lang="en-IN" sz="700" dirty="0">
                <a:solidFill>
                  <a:schemeClr val="bg1"/>
                </a:solidFill>
              </a:rPr>
              <a:t>Username : Karthik1781527161032</a:t>
            </a:r>
          </a:p>
          <a:p>
            <a:r>
              <a:rPr lang="en-IN" sz="700" dirty="0">
                <a:solidFill>
                  <a:schemeClr val="bg1"/>
                </a:solidFill>
              </a:rPr>
              <a:t>Login Successful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Browser Started</a:t>
            </a:r>
          </a:p>
          <a:p>
            <a:r>
              <a:rPr lang="en-IN" sz="700" dirty="0">
                <a:solidFill>
                  <a:schemeClr val="bg1"/>
                </a:solidFill>
              </a:rPr>
              <a:t>Username Used = Karthik1781527161032</a:t>
            </a:r>
          </a:p>
          <a:p>
            <a:r>
              <a:rPr lang="en-IN" sz="700" dirty="0">
                <a:solidFill>
                  <a:schemeClr val="bg1"/>
                </a:solidFill>
              </a:rPr>
              <a:t>Current URL = https://parabank.parasoft.com/parabank/overview.htm</a:t>
            </a:r>
          </a:p>
          <a:p>
            <a:r>
              <a:rPr lang="en-IN" sz="700" dirty="0">
                <a:solidFill>
                  <a:schemeClr val="bg1"/>
                </a:solidFill>
              </a:rPr>
              <a:t>Page Title = </a:t>
            </a:r>
            <a:r>
              <a:rPr lang="en-IN" sz="700" dirty="0" err="1">
                <a:solidFill>
                  <a:schemeClr val="bg1"/>
                </a:solidFill>
              </a:rPr>
              <a:t>ParaBank</a:t>
            </a:r>
            <a:r>
              <a:rPr lang="en-IN" sz="700" dirty="0">
                <a:solidFill>
                  <a:schemeClr val="bg1"/>
                </a:solidFill>
              </a:rPr>
              <a:t> | Accounts Overview</a:t>
            </a:r>
          </a:p>
          <a:p>
            <a:r>
              <a:rPr lang="en-IN" sz="700" dirty="0">
                <a:solidFill>
                  <a:schemeClr val="bg1"/>
                </a:solidFill>
              </a:rPr>
              <a:t>LOGIN SUCCESS</a:t>
            </a:r>
          </a:p>
          <a:p>
            <a:r>
              <a:rPr lang="en-IN" sz="700" dirty="0">
                <a:solidFill>
                  <a:schemeClr val="bg1"/>
                </a:solidFill>
              </a:rPr>
              <a:t>Funds Transfer Successful</a:t>
            </a:r>
          </a:p>
          <a:p>
            <a:r>
              <a:rPr lang="en-IN" sz="700" dirty="0">
                <a:solidFill>
                  <a:schemeClr val="bg1"/>
                </a:solidFill>
              </a:rPr>
              <a:t>Screenshot Saved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Jun 15, 2026 6:09:40 PM </a:t>
            </a:r>
            <a:r>
              <a:rPr lang="en-IN" sz="700" dirty="0" err="1">
                <a:solidFill>
                  <a:schemeClr val="bg1"/>
                </a:solidFill>
              </a:rPr>
              <a:t>org.openqa.selenium.devtools.CdpVersionFinder</a:t>
            </a:r>
            <a:r>
              <a:rPr lang="en-IN" sz="700" dirty="0">
                <a:solidFill>
                  <a:schemeClr val="bg1"/>
                </a:solidFill>
              </a:rPr>
              <a:t> </a:t>
            </a:r>
            <a:r>
              <a:rPr lang="en-IN" sz="700" dirty="0" err="1">
                <a:solidFill>
                  <a:schemeClr val="bg1"/>
                </a:solidFill>
              </a:rPr>
              <a:t>findNearestMatch</a:t>
            </a:r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WARNING: Unable to find CDP implementation matching 149</a:t>
            </a:r>
          </a:p>
          <a:p>
            <a:r>
              <a:rPr lang="en-IN" sz="700" dirty="0">
                <a:solidFill>
                  <a:schemeClr val="bg1"/>
                </a:solidFill>
              </a:rPr>
              <a:t>Jun 15, 2026 6:09:40 PM </a:t>
            </a:r>
            <a:r>
              <a:rPr lang="en-IN" sz="700" dirty="0" err="1">
                <a:solidFill>
                  <a:schemeClr val="bg1"/>
                </a:solidFill>
              </a:rPr>
              <a:t>org.openqa.selenium.chromium.ChromiumDriver</a:t>
            </a:r>
            <a:r>
              <a:rPr lang="en-IN" sz="700" dirty="0">
                <a:solidFill>
                  <a:schemeClr val="bg1"/>
                </a:solidFill>
              </a:rPr>
              <a:t> lambda$new$5</a:t>
            </a:r>
          </a:p>
          <a:p>
            <a:r>
              <a:rPr lang="en-IN" sz="700" dirty="0">
                <a:solidFill>
                  <a:schemeClr val="bg1"/>
                </a:solidFill>
              </a:rPr>
              <a:t>WARNING: Unable to find version of CDP to use for 149.0.7827.104. You may need to include a dependency on a specific version of the CDP using something similar to `org.seleniumhq.selenium:selenium-devtools-v86:4.21.0` where the version ("v86") matches the version of the chromium-based browser you're using and the version number of the artifact is the same as Selenium’s.</a:t>
            </a:r>
          </a:p>
          <a:p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Browser Started</a:t>
            </a:r>
          </a:p>
          <a:p>
            <a:r>
              <a:rPr lang="en-IN" sz="700" dirty="0">
                <a:solidFill>
                  <a:schemeClr val="bg1"/>
                </a:solidFill>
              </a:rPr>
              <a:t>Current URL = https://parabank.parasoft.com/parabank/overview.htm</a:t>
            </a:r>
          </a:p>
          <a:p>
            <a:r>
              <a:rPr lang="en-IN" sz="700" dirty="0">
                <a:solidFill>
                  <a:schemeClr val="bg1"/>
                </a:solidFill>
              </a:rPr>
              <a:t>Page Title = </a:t>
            </a:r>
            <a:r>
              <a:rPr lang="en-IN" sz="700" dirty="0" err="1">
                <a:solidFill>
                  <a:schemeClr val="bg1"/>
                </a:solidFill>
              </a:rPr>
              <a:t>ParaBank</a:t>
            </a:r>
            <a:r>
              <a:rPr lang="en-IN" sz="700" dirty="0">
                <a:solidFill>
                  <a:schemeClr val="bg1"/>
                </a:solidFill>
              </a:rPr>
              <a:t> | Accounts Overview</a:t>
            </a:r>
          </a:p>
          <a:p>
            <a:r>
              <a:rPr lang="en-IN" sz="700" dirty="0">
                <a:solidFill>
                  <a:schemeClr val="bg1"/>
                </a:solidFill>
              </a:rPr>
              <a:t>Bill Payment Completed</a:t>
            </a:r>
          </a:p>
          <a:p>
            <a:r>
              <a:rPr lang="en-IN" sz="700" dirty="0">
                <a:solidFill>
                  <a:schemeClr val="bg1"/>
                </a:solidFill>
              </a:rPr>
              <a:t>Screenshot Saved</a:t>
            </a:r>
          </a:p>
          <a:p>
            <a:r>
              <a:rPr lang="en-IN" sz="700" dirty="0">
                <a:solidFill>
                  <a:schemeClr val="bg1"/>
                </a:solidFill>
              </a:rPr>
              <a:t>TestNG Working</a:t>
            </a:r>
          </a:p>
          <a:p>
            <a:br>
              <a:rPr lang="en-IN" sz="700" dirty="0">
                <a:solidFill>
                  <a:schemeClr val="bg1"/>
                </a:solidFill>
              </a:rPr>
            </a:br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===============================================</a:t>
            </a:r>
          </a:p>
          <a:p>
            <a:r>
              <a:rPr lang="en-IN" sz="700" dirty="0" err="1">
                <a:solidFill>
                  <a:schemeClr val="bg1"/>
                </a:solidFill>
              </a:rPr>
              <a:t>ParaBankSuite</a:t>
            </a:r>
            <a:endParaRPr lang="en-IN" sz="700" dirty="0">
              <a:solidFill>
                <a:schemeClr val="bg1"/>
              </a:solidFill>
            </a:endParaRPr>
          </a:p>
          <a:p>
            <a:r>
              <a:rPr lang="en-IN" sz="700" dirty="0">
                <a:solidFill>
                  <a:schemeClr val="bg1"/>
                </a:solidFill>
              </a:rPr>
              <a:t>Total tests run: 4, Passes: 4, Failures: 0, Skips: 0</a:t>
            </a:r>
          </a:p>
          <a:p>
            <a:r>
              <a:rPr lang="en-IN" sz="700" dirty="0">
                <a:solidFill>
                  <a:schemeClr val="bg1"/>
                </a:solidFill>
              </a:rPr>
              <a:t>===============================================</a:t>
            </a:r>
          </a:p>
          <a:p>
            <a:br>
              <a:rPr lang="en-IN" sz="700" dirty="0">
                <a:solidFill>
                  <a:schemeClr val="bg1"/>
                </a:solidFill>
              </a:rPr>
            </a:br>
            <a:endParaRPr lang="en-IN" sz="700" dirty="0">
              <a:solidFill>
                <a:schemeClr val="bg1"/>
              </a:solidFill>
            </a:endParaRPr>
          </a:p>
          <a:p>
            <a:endParaRPr sz="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4035"/>
          </a:solidFill>
          <a:ln w="12700">
            <a:solidFill>
              <a:srgbClr val="0540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1168" y="219456"/>
            <a:ext cx="310896" cy="310896"/>
          </a:xfrm>
          <a:prstGeom prst="ellipse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– 100% Pass Rate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56032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50592" y="107899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2450592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45152" y="107899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4645152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57429" y="2578616"/>
            <a:ext cx="1603626" cy="77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7357429" y="3488485"/>
            <a:ext cx="1603626" cy="324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289588036"/>
              </p:ext>
            </p:extLst>
          </p:nvPr>
        </p:nvGraphicFramePr>
        <p:xfrm>
          <a:off x="6591300" y="2608580"/>
          <a:ext cx="234950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256032" y="3063240"/>
            <a:ext cx="5468112" cy="1719072"/>
          </a:xfrm>
          <a:prstGeom prst="roundRect">
            <a:avLst>
              <a:gd name="adj" fmla="val 4255"/>
            </a:avLst>
          </a:prstGeom>
          <a:solidFill>
            <a:srgbClr val="054035"/>
          </a:solidFill>
          <a:ln w="12700">
            <a:solidFill>
              <a:srgbClr val="C5E8DF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38912" y="3182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Summary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8912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Duration: ~33 seconds for the full test suite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38912" y="3858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Browser: Google Chrome via ChromeDriver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438912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Environment: Local machine execution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8912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Evidence: Screenshots saved for all 4 tests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of the ParaBank Automation Framework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8321040" cy="0"/>
          </a:xfrm>
          <a:prstGeom prst="line">
            <a:avLst/>
          </a:prstGeom>
          <a:noFill/>
          <a:ln w="12700">
            <a:solidFill>
              <a:srgbClr val="0D9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527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1704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Selenium + Java automation framework from scratch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5179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framework — no shortcuts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1234440"/>
            <a:ext cx="1261872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589520" y="12344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842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190195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Page Object Model pattern across all 4 page classes for clean, reusable code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77240" y="22494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design pattern applied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589520" y="1965960"/>
            <a:ext cx="1261872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7589520" y="19659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157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263347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all 4 test cases with 100% pass rate and zero failures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29809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banking workflows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589520" y="2697480"/>
            <a:ext cx="1261872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7589520" y="26974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4728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336499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automated screenshots as visual evidence for each test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37124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 evidence management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589520" y="3429000"/>
            <a:ext cx="1261872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7589520" y="3429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7880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7240" y="40965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full automation of Register → Login → Transfer → BillPay flow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77240" y="44439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banking workflow automated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589520" y="4160520"/>
            <a:ext cx="1261872" cy="347472"/>
          </a:xfrm>
          <a:prstGeom prst="roundRect">
            <a:avLst>
              <a:gd name="adj" fmla="val 18421"/>
            </a:avLst>
          </a:prstGeom>
          <a:solidFill>
            <a:srgbClr val="0D9E7A">
              <a:alpha val="85000"/>
            </a:srgbClr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6"/>
          <p:cNvSpPr/>
          <p:nvPr/>
        </p:nvSpPr>
        <p:spPr>
          <a:xfrm>
            <a:off x="7589520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0040" y="4773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937760" y="4773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Nagulagama</a:t>
            </a: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Karthik  |  SDET Automation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564</TotalTime>
  <Words>2637</Words>
  <Application>Microsoft Office PowerPoint</Application>
  <PresentationFormat>On-screen Show (16:9)</PresentationFormat>
  <Paragraphs>443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ParaBank End-to-End Automation Framework</dc:title>
  <dc:subject>PptxGenJS Presentation</dc:subject>
  <dc:creator>Snehal Reddy Godala</dc:creator>
  <cp:lastModifiedBy>Karthik N</cp:lastModifiedBy>
  <cp:revision>19</cp:revision>
  <dcterms:created xsi:type="dcterms:W3CDTF">2026-06-15T03:28:54Z</dcterms:created>
  <dcterms:modified xsi:type="dcterms:W3CDTF">2026-06-15T15:01:18Z</dcterms:modified>
</cp:coreProperties>
</file>